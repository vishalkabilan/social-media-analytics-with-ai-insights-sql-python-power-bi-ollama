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7" r:id="rId2"/>
    <p:sldId id="258" r:id="rId3"/>
    <p:sldId id="266" r:id="rId4"/>
    <p:sldId id="267" r:id="rId5"/>
    <p:sldId id="270" r:id="rId6"/>
    <p:sldId id="261" r:id="rId7"/>
    <p:sldId id="268" r:id="rId8"/>
    <p:sldId id="262" r:id="rId9"/>
    <p:sldId id="269" r:id="rId10"/>
    <p:sldId id="271" r:id="rId11"/>
    <p:sldId id="263" r:id="rId12"/>
    <p:sldId id="272" r:id="rId13"/>
    <p:sldId id="265" r:id="rId14"/>
    <p:sldId id="274" r:id="rId15"/>
    <p:sldId id="264" r:id="rId16"/>
    <p:sldId id="273" r:id="rId17"/>
    <p:sldId id="276" r:id="rId18"/>
    <p:sldId id="275" r:id="rId19"/>
    <p:sldId id="278" r:id="rId20"/>
    <p:sldId id="280" r:id="rId21"/>
    <p:sldId id="277" r:id="rId22"/>
    <p:sldId id="28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9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9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4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7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75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6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4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81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5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9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39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86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7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7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00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79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5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7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61554"/>
          </a:xfrm>
        </p:spPr>
        <p:txBody>
          <a:bodyPr>
            <a:normAutofit/>
          </a:bodyPr>
          <a:lstStyle/>
          <a:p>
            <a:r>
              <a:rPr lang="en-US" b="1" dirty="0"/>
              <a:t>SOCIAL MEDIA ANALYTICS DASHBOARD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04872"/>
            <a:ext cx="8229600" cy="37212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b="1" dirty="0"/>
              <a:t>Presented by:</a:t>
            </a:r>
            <a:r>
              <a:rPr lang="en-IN" sz="2000" dirty="0"/>
              <a:t> VISHAL KABILAN K</a:t>
            </a:r>
          </a:p>
          <a:p>
            <a:pPr marL="0" indent="0">
              <a:buNone/>
            </a:pPr>
            <a:br>
              <a:rPr lang="en-IN" sz="2000" dirty="0"/>
            </a:br>
            <a:r>
              <a:rPr lang="en-IN" sz="2000" b="1" dirty="0"/>
              <a:t>Tool Used:</a:t>
            </a:r>
            <a:r>
              <a:rPr lang="en-IN" sz="2000" dirty="0"/>
              <a:t> Microsoft Power BI</a:t>
            </a:r>
          </a:p>
          <a:p>
            <a:pPr marL="0" indent="0">
              <a:buNone/>
            </a:pPr>
            <a:br>
              <a:rPr lang="en-IN" sz="2000" u="sng" dirty="0"/>
            </a:br>
            <a:r>
              <a:rPr lang="en-IN" sz="2000" b="1" u="sng" dirty="0"/>
              <a:t>Features:</a:t>
            </a:r>
            <a:r>
              <a:rPr lang="en-IN" sz="2000" u="sng" dirty="0"/>
              <a:t> </a:t>
            </a:r>
          </a:p>
          <a:p>
            <a:r>
              <a:rPr lang="en-IN" sz="2000" dirty="0"/>
              <a:t>Interactive Dashboard </a:t>
            </a:r>
          </a:p>
          <a:p>
            <a:r>
              <a:rPr lang="en-IN" sz="2000" dirty="0"/>
              <a:t>Dynamic Filters</a:t>
            </a:r>
          </a:p>
          <a:p>
            <a:r>
              <a:rPr lang="en-IN" sz="2000" dirty="0"/>
              <a:t>Bookmarks </a:t>
            </a:r>
          </a:p>
          <a:p>
            <a:r>
              <a:rPr lang="en-IN" sz="2000" dirty="0"/>
              <a:t>Navigations</a:t>
            </a:r>
          </a:p>
          <a:p>
            <a:r>
              <a:rPr lang="en-IN" sz="2000" dirty="0"/>
              <a:t>DAX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/>
              <a:t>To analyze and visualize social media platform performance using interactive Power BI dashboard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u="sng" dirty="0"/>
              <a:t>Dashboard helps to analyze:</a:t>
            </a:r>
            <a:endParaRPr lang="en-US" sz="1800" u="sng" dirty="0"/>
          </a:p>
          <a:p>
            <a:pPr marL="0" indent="0">
              <a:buNone/>
            </a:pPr>
            <a:r>
              <a:rPr lang="en-US" sz="1800" dirty="0"/>
              <a:t>     • Downloads performance by platform</a:t>
            </a:r>
            <a:br>
              <a:rPr lang="en-US" sz="1800" dirty="0"/>
            </a:br>
            <a:r>
              <a:rPr lang="en-US" sz="1800" dirty="0"/>
              <a:t>     • Followers, likes, shares, and comments engagement</a:t>
            </a:r>
            <a:br>
              <a:rPr lang="en-US" sz="1800" dirty="0"/>
            </a:br>
            <a:r>
              <a:rPr lang="en-US" sz="1800" dirty="0"/>
              <a:t>     • Platform comparison and performance trends</a:t>
            </a:r>
            <a:br>
              <a:rPr lang="en-US" sz="1800" dirty="0"/>
            </a:br>
            <a:r>
              <a:rPr lang="en-US" sz="1800" dirty="0"/>
              <a:t>     • Regional, city, and gender-based analysis</a:t>
            </a:r>
            <a:br>
              <a:rPr lang="en-US" sz="1800" dirty="0"/>
            </a:br>
            <a:r>
              <a:rPr lang="en-US" sz="1800" dirty="0"/>
              <a:t>     • Average and total performance using toggle feature</a:t>
            </a:r>
            <a:br>
              <a:rPr lang="en-US" sz="1800" dirty="0"/>
            </a:br>
            <a:r>
              <a:rPr lang="en-US" sz="1800" dirty="0"/>
              <a:t>     • Dynamic filtering and interactive data exploration</a:t>
            </a:r>
          </a:p>
          <a:p>
            <a:pPr marL="0" indent="0">
              <a:buNone/>
            </a:pPr>
            <a:endParaRPr sz="18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1800" b="1" u="sng" dirty="0"/>
              <a:t>TOOLS USED: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Microsoft Power BI Desktop</a:t>
            </a:r>
            <a:br>
              <a:rPr lang="en-IN" sz="1800" dirty="0"/>
            </a:br>
            <a:r>
              <a:rPr lang="en-IN" sz="1800" dirty="0"/>
              <a:t>• Power Query Editor</a:t>
            </a:r>
          </a:p>
          <a:p>
            <a:pPr marL="0" indent="0">
              <a:buNone/>
            </a:pPr>
            <a:r>
              <a:rPr lang="en-IN" sz="1800" b="1" u="sng" dirty="0"/>
              <a:t>POWER BI FEATURES USED: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Interactive Visualizations</a:t>
            </a:r>
            <a:br>
              <a:rPr lang="en-IN" sz="1800" dirty="0"/>
            </a:br>
            <a:r>
              <a:rPr lang="en-IN" sz="1800" dirty="0"/>
              <a:t>• KPI Cards</a:t>
            </a:r>
            <a:br>
              <a:rPr lang="en-IN" sz="1800" dirty="0"/>
            </a:br>
            <a:r>
              <a:rPr lang="en-IN" sz="1800" dirty="0"/>
              <a:t>• Slicers and Filters</a:t>
            </a:r>
            <a:br>
              <a:rPr lang="en-IN" sz="1800" dirty="0"/>
            </a:br>
            <a:r>
              <a:rPr lang="en-IN" sz="1800" dirty="0"/>
              <a:t>• Bookmarks and Buttons</a:t>
            </a:r>
            <a:br>
              <a:rPr lang="en-IN" sz="1800" dirty="0"/>
            </a:br>
            <a:r>
              <a:rPr lang="en-IN" sz="1800" dirty="0"/>
              <a:t>• Multi-page Dashboard</a:t>
            </a:r>
          </a:p>
          <a:p>
            <a:pPr marL="0" indent="0">
              <a:buNone/>
            </a:pPr>
            <a:r>
              <a:rPr lang="en-IN" sz="1800" b="1" u="sng" dirty="0"/>
              <a:t>ADVANCED FEATURES: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DAX Measures</a:t>
            </a:r>
            <a:br>
              <a:rPr lang="en-IN" sz="1800" dirty="0"/>
            </a:br>
            <a:r>
              <a:rPr lang="en-IN" sz="1800" dirty="0"/>
              <a:t>• Dynamic Image URL</a:t>
            </a:r>
            <a:br>
              <a:rPr lang="en-IN" sz="1800" dirty="0"/>
            </a:br>
            <a:r>
              <a:rPr lang="en-IN" sz="1800" dirty="0"/>
              <a:t>• Web URL Navigation</a:t>
            </a:r>
            <a:br>
              <a:rPr lang="en-IN" sz="1800" dirty="0"/>
            </a:br>
            <a:r>
              <a:rPr lang="en-IN" sz="1800" dirty="0"/>
              <a:t>• Visual Grouping and Toggle Feature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3870-16ED-05F3-5C23-95E9D2E3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SETS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DDFD1A-CFCD-F195-FFCB-C77F1FAD4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489200"/>
            <a:ext cx="91440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2786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6DC2-DE8E-60AB-F7AB-B04B3CDF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F16D-30AF-8FCD-27D0-CA35FED8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1" u="sng" dirty="0"/>
              <a:t>DATASET CONTAINS:</a:t>
            </a:r>
            <a:endParaRPr lang="en-IN" sz="1200" u="sng" dirty="0"/>
          </a:p>
          <a:p>
            <a:pPr marL="0" indent="0">
              <a:buNone/>
            </a:pPr>
            <a:r>
              <a:rPr lang="en-IN" sz="1200" dirty="0"/>
              <a:t>• Platform (Facebook, Instagram, YouTube, X(Twitter), TikTok)</a:t>
            </a:r>
            <a:br>
              <a:rPr lang="en-IN" sz="1200" dirty="0"/>
            </a:br>
            <a:r>
              <a:rPr lang="en-IN" sz="1200" dirty="0"/>
              <a:t>• Region and City</a:t>
            </a:r>
            <a:br>
              <a:rPr lang="en-IN" sz="1200" dirty="0"/>
            </a:br>
            <a:r>
              <a:rPr lang="en-IN" sz="1200" dirty="0"/>
              <a:t>• State information</a:t>
            </a:r>
            <a:br>
              <a:rPr lang="en-IN" sz="1200" dirty="0"/>
            </a:br>
            <a:r>
              <a:rPr lang="en-IN" sz="1200" dirty="0"/>
              <a:t>• Gender category</a:t>
            </a:r>
            <a:br>
              <a:rPr lang="en-IN" sz="1200" dirty="0"/>
            </a:br>
            <a:r>
              <a:rPr lang="en-IN" sz="1200" dirty="0"/>
              <a:t>• Year and Month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b="1" u="sng" dirty="0"/>
              <a:t>ENGAGEMENT METRICS:</a:t>
            </a:r>
          </a:p>
          <a:p>
            <a:pPr marL="0" indent="0">
              <a:buNone/>
            </a:pPr>
            <a:r>
              <a:rPr lang="en-IN" sz="1200" dirty="0"/>
              <a:t>• Downloads</a:t>
            </a:r>
            <a:br>
              <a:rPr lang="en-IN" sz="1200" dirty="0"/>
            </a:br>
            <a:r>
              <a:rPr lang="en-IN" sz="1200" dirty="0"/>
              <a:t>• Followers</a:t>
            </a:r>
            <a:br>
              <a:rPr lang="en-IN" sz="1200" dirty="0"/>
            </a:br>
            <a:r>
              <a:rPr lang="en-IN" sz="1200" dirty="0"/>
              <a:t>• Likes</a:t>
            </a:r>
            <a:br>
              <a:rPr lang="en-IN" sz="1200" dirty="0"/>
            </a:br>
            <a:r>
              <a:rPr lang="en-IN" sz="1200" dirty="0"/>
              <a:t>• Shares</a:t>
            </a:r>
            <a:br>
              <a:rPr lang="en-IN" sz="1200" dirty="0"/>
            </a:br>
            <a:r>
              <a:rPr lang="en-IN" sz="1200" dirty="0"/>
              <a:t>• Comments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b="1" u="sng" dirty="0"/>
              <a:t>DATA PREPARATION:</a:t>
            </a:r>
            <a:endParaRPr lang="en-IN" sz="1200" u="sng" dirty="0"/>
          </a:p>
          <a:p>
            <a:pPr marL="0" indent="0">
              <a:buNone/>
            </a:pPr>
            <a:r>
              <a:rPr lang="en-IN" sz="1200" dirty="0"/>
              <a:t>• Data cleaned and structured in Power BI</a:t>
            </a:r>
            <a:br>
              <a:rPr lang="en-IN" sz="1200" dirty="0"/>
            </a:br>
            <a:r>
              <a:rPr lang="en-IN" sz="1200" dirty="0"/>
              <a:t>• Correct data types assigned</a:t>
            </a:r>
            <a:br>
              <a:rPr lang="en-IN" sz="1200" dirty="0"/>
            </a:br>
            <a:r>
              <a:rPr lang="en-IN" sz="1200" dirty="0"/>
              <a:t>• Used for visualization and analysis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82777552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Dashboard Overview – Total Performance 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u="sng" dirty="0"/>
              <a:t>KEY PERFORMANCE INDICATORS (KPIs):</a:t>
            </a:r>
          </a:p>
          <a:p>
            <a:pPr marL="0" indent="0">
              <a:buNone/>
            </a:pPr>
            <a:r>
              <a:rPr lang="en-US" sz="1200" dirty="0"/>
              <a:t>• Total Downloads</a:t>
            </a:r>
            <a:br>
              <a:rPr lang="en-US" sz="1200" dirty="0"/>
            </a:br>
            <a:r>
              <a:rPr lang="en-US" sz="1200" dirty="0"/>
              <a:t>• Total Followers</a:t>
            </a:r>
            <a:br>
              <a:rPr lang="en-US" sz="1200" dirty="0"/>
            </a:br>
            <a:r>
              <a:rPr lang="en-US" sz="1200" dirty="0"/>
              <a:t>• Total Shares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u="sng" dirty="0"/>
              <a:t>VISUAL ANALYSIS INCLUDES:</a:t>
            </a:r>
            <a:endParaRPr lang="en-US" sz="1200" u="sng" dirty="0"/>
          </a:p>
          <a:p>
            <a:pPr marL="0" indent="0">
              <a:buNone/>
            </a:pPr>
            <a:r>
              <a:rPr lang="en-US" sz="1200" dirty="0"/>
              <a:t>• Downloads by Platform comparison</a:t>
            </a:r>
            <a:br>
              <a:rPr lang="en-US" sz="1200" dirty="0"/>
            </a:br>
            <a:r>
              <a:rPr lang="en-US" sz="1200" dirty="0"/>
              <a:t>• Downloads and Followers by State and Gender</a:t>
            </a:r>
            <a:br>
              <a:rPr lang="en-US" sz="1200" dirty="0"/>
            </a:br>
            <a:r>
              <a:rPr lang="en-US" sz="1200" dirty="0"/>
              <a:t>• Downloads by City and Region</a:t>
            </a:r>
            <a:br>
              <a:rPr lang="en-US" sz="1200" dirty="0"/>
            </a:br>
            <a:r>
              <a:rPr lang="en-US" sz="1200" dirty="0"/>
              <a:t>• Likes distribution by Platform</a:t>
            </a:r>
            <a:br>
              <a:rPr lang="en-US" sz="1200" dirty="0"/>
            </a:br>
            <a:r>
              <a:rPr lang="en-US" sz="1200" dirty="0"/>
              <a:t>• Shares distribution by Platform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u="sng" dirty="0"/>
              <a:t>FEATURES:</a:t>
            </a:r>
            <a:endParaRPr lang="en-US" sz="1200" u="sng" dirty="0"/>
          </a:p>
          <a:p>
            <a:pPr marL="0" indent="0">
              <a:buNone/>
            </a:pPr>
            <a:r>
              <a:rPr lang="en-US" sz="1200" dirty="0"/>
              <a:t>• Interactive visualizations</a:t>
            </a:r>
            <a:br>
              <a:rPr lang="en-US" sz="1200" dirty="0"/>
            </a:br>
            <a:r>
              <a:rPr lang="en-US" sz="1200" dirty="0"/>
              <a:t>• Real-time filtering support</a:t>
            </a:r>
            <a:br>
              <a:rPr lang="en-US" sz="1200" dirty="0"/>
            </a:br>
            <a:r>
              <a:rPr lang="en-US" sz="1200" dirty="0"/>
              <a:t>• Total performance analysis using SUM view</a:t>
            </a:r>
          </a:p>
          <a:p>
            <a:pPr marL="0" indent="0">
              <a:buNone/>
            </a:pPr>
            <a:endParaRPr sz="12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4C82C3-A551-1C96-DF68-CCF3B66233A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044575"/>
            <a:ext cx="9144000" cy="476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2591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 and AVG Toggle Feature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800" b="1" dirty="0"/>
              <a:t>TOGGLE FEATURE IMPLEMENTED USING BOOKMARKS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u="sng" dirty="0"/>
              <a:t>SUM VIEW:</a:t>
            </a:r>
            <a:endParaRPr lang="en-US" sz="1800" u="sng" dirty="0"/>
          </a:p>
          <a:p>
            <a:pPr marL="0" indent="0">
              <a:buNone/>
            </a:pPr>
            <a:r>
              <a:rPr lang="en-US" sz="1800" dirty="0"/>
              <a:t>• Displays total downloads, followers, likes, shares, and comments</a:t>
            </a:r>
            <a:br>
              <a:rPr lang="en-US" sz="1800" dirty="0"/>
            </a:br>
            <a:r>
              <a:rPr lang="en-US" sz="1800" dirty="0"/>
              <a:t>• Shows overall platform performance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u="sng" dirty="0"/>
              <a:t>AVG VIEW:</a:t>
            </a:r>
            <a:endParaRPr lang="en-US" sz="1800" u="sng" dirty="0"/>
          </a:p>
          <a:p>
            <a:pPr marL="0" indent="0">
              <a:buNone/>
            </a:pPr>
            <a:r>
              <a:rPr lang="en-US" sz="1800" dirty="0"/>
              <a:t>• Displays average engagement metrics</a:t>
            </a:r>
            <a:br>
              <a:rPr lang="en-US" sz="1800" dirty="0"/>
            </a:br>
            <a:r>
              <a:rPr lang="en-US" sz="1800" dirty="0"/>
              <a:t>• Shows typical platform performance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u="sng" dirty="0"/>
              <a:t>IMPLEMENTATION:</a:t>
            </a:r>
            <a:endParaRPr lang="en-US" sz="1800" u="sng" dirty="0"/>
          </a:p>
          <a:p>
            <a:pPr marL="0" indent="0">
              <a:buNone/>
            </a:pPr>
            <a:r>
              <a:rPr lang="en-US" sz="1800" dirty="0"/>
              <a:t>• Created using Bookmarks and Visual Grouping</a:t>
            </a:r>
            <a:br>
              <a:rPr lang="en-US" sz="1800" dirty="0"/>
            </a:br>
            <a:r>
              <a:rPr lang="en-US" sz="1800" dirty="0"/>
              <a:t>• Used buttons to switch between views</a:t>
            </a:r>
            <a:br>
              <a:rPr lang="en-US" sz="1800" dirty="0"/>
            </a:br>
            <a:r>
              <a:rPr lang="en-US" sz="1800" dirty="0"/>
              <a:t>• Provides dynamic and interactive analysis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80BB5-A038-C896-7F92-A104695B7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3256" y="274638"/>
            <a:ext cx="923544" cy="155130"/>
          </a:xfrm>
        </p:spPr>
        <p:txBody>
          <a:bodyPr>
            <a:normAutofit fontScale="90000"/>
          </a:bodyPr>
          <a:lstStyle/>
          <a:p>
            <a:endParaRPr lang="en-IN" sz="800" dirty="0"/>
          </a:p>
        </p:txBody>
      </p:sp>
      <p:pic>
        <p:nvPicPr>
          <p:cNvPr id="9" name="Content Placeholder 8" descr="A screenshot of a computer">
            <a:extLst>
              <a:ext uri="{FF2B5EF4-FFF2-40B4-BE49-F238E27FC236}">
                <a16:creationId xmlns:a16="http://schemas.microsoft.com/office/drawing/2014/main" id="{6B714FC7-79B7-01FF-81FA-5B81BC75A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34014"/>
            <a:ext cx="9144000" cy="494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566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3902-E834-F21F-3362-5D8DDD3DC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562088" y="118872"/>
            <a:ext cx="1645920" cy="164910"/>
          </a:xfrm>
        </p:spPr>
        <p:txBody>
          <a:bodyPr>
            <a:normAutofit fontScale="90000"/>
          </a:bodyPr>
          <a:lstStyle/>
          <a:p>
            <a:endParaRPr lang="en-IN" sz="800" dirty="0"/>
          </a:p>
        </p:txBody>
      </p:sp>
      <p:pic>
        <p:nvPicPr>
          <p:cNvPr id="9" name="Content Placeholder 8" descr="A screenshot of a computer">
            <a:extLst>
              <a:ext uri="{FF2B5EF4-FFF2-40B4-BE49-F238E27FC236}">
                <a16:creationId xmlns:a16="http://schemas.microsoft.com/office/drawing/2014/main" id="{757819C8-EAE6-177D-370E-C17822493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88136"/>
            <a:ext cx="9144000" cy="503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6929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Interactive Filters and Slicer Panel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u="sng" dirty="0"/>
              <a:t>SLICER PANEL FEATURES: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Platform filter</a:t>
            </a:r>
            <a:br>
              <a:rPr lang="en-IN" sz="1800" dirty="0"/>
            </a:br>
            <a:r>
              <a:rPr lang="en-IN" sz="1800" dirty="0"/>
              <a:t>• Region filter</a:t>
            </a:r>
            <a:br>
              <a:rPr lang="en-IN" sz="1800" dirty="0"/>
            </a:br>
            <a:r>
              <a:rPr lang="en-IN" sz="1800" dirty="0"/>
              <a:t>• City filter</a:t>
            </a:r>
            <a:br>
              <a:rPr lang="en-IN" sz="1800" dirty="0"/>
            </a:br>
            <a:r>
              <a:rPr lang="en-IN" sz="1800" dirty="0"/>
              <a:t>• Gender filter</a:t>
            </a:r>
            <a:br>
              <a:rPr lang="en-IN" sz="1800" dirty="0"/>
            </a:br>
            <a:endParaRPr lang="en-IN" sz="1800" dirty="0"/>
          </a:p>
          <a:p>
            <a:pPr marL="0" indent="0">
              <a:buNone/>
            </a:pPr>
            <a:r>
              <a:rPr lang="en-IN" sz="1800" b="1" u="sng" dirty="0"/>
              <a:t>FUNCTIONALITY: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Filters all visuals dynamically</a:t>
            </a:r>
            <a:br>
              <a:rPr lang="en-IN" sz="1800" dirty="0"/>
            </a:br>
            <a:r>
              <a:rPr lang="en-IN" sz="1800" dirty="0"/>
              <a:t>• Enables focused data analysis</a:t>
            </a:r>
            <a:br>
              <a:rPr lang="en-IN" sz="1800" dirty="0"/>
            </a:br>
            <a:r>
              <a:rPr lang="en-IN" sz="1800" dirty="0"/>
              <a:t>• Improves dashboard interactivity</a:t>
            </a:r>
            <a:br>
              <a:rPr lang="en-IN" sz="1800" dirty="0"/>
            </a:br>
            <a:r>
              <a:rPr lang="en-IN" sz="1800" dirty="0"/>
              <a:t>• Created using slicers and bookmarks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83045-D9C5-070C-D43B-35871419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64" y="274638"/>
            <a:ext cx="859536" cy="100266"/>
          </a:xfrm>
        </p:spPr>
        <p:txBody>
          <a:bodyPr>
            <a:normAutofit fontScale="90000"/>
          </a:bodyPr>
          <a:lstStyle/>
          <a:p>
            <a:endParaRPr lang="en-IN" sz="800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EBFA09-ECAC-40BB-7964-05F4966C0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43585"/>
            <a:ext cx="9143999" cy="4630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7F1578-0DF4-5BA5-9513-4DACE8893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912" y="0"/>
            <a:ext cx="1207007" cy="114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7118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Dynamic Icon and Navigation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1800" b="1" u="sng" dirty="0"/>
              <a:t>DYNAMIC PLATFORM ICON: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Platform icon changes based on selected platform</a:t>
            </a:r>
            <a:br>
              <a:rPr lang="en-IN" sz="1800" dirty="0"/>
            </a:br>
            <a:r>
              <a:rPr lang="en-IN" sz="1800" dirty="0"/>
              <a:t>• Improves visual identification</a:t>
            </a:r>
            <a:br>
              <a:rPr lang="en-IN" sz="1800" dirty="0"/>
            </a:br>
            <a:r>
              <a:rPr lang="en-IN" sz="1800" dirty="0"/>
              <a:t>• Created using DAX measure and image URL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u="sng" dirty="0"/>
              <a:t>NAVIGATION FEATURE: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CTRL + Click on icon redirects to platform website</a:t>
            </a:r>
            <a:br>
              <a:rPr lang="en-IN" sz="1800" dirty="0"/>
            </a:br>
            <a:r>
              <a:rPr lang="en-IN" sz="1800" dirty="0"/>
              <a:t>• Dynamic URL linking based on selected platform</a:t>
            </a:r>
            <a:br>
              <a:rPr lang="en-IN" sz="1800" dirty="0"/>
            </a:br>
            <a:r>
              <a:rPr lang="en-IN" sz="1800" dirty="0"/>
              <a:t>• Implemented using DAX and Web URL action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u="sng" dirty="0"/>
              <a:t>BENEFITS: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Improves user experience</a:t>
            </a:r>
            <a:br>
              <a:rPr lang="en-IN" sz="1800" dirty="0"/>
            </a:br>
            <a:r>
              <a:rPr lang="en-IN" sz="1800" dirty="0"/>
              <a:t>• Provides quick access to platform pages</a:t>
            </a:r>
            <a:br>
              <a:rPr lang="en-IN" sz="1800" dirty="0"/>
            </a:br>
            <a:r>
              <a:rPr lang="en-IN" sz="1800" dirty="0"/>
              <a:t>• Enhances dashboard interactivity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97A1-44AF-F1A4-8DA5-6B9B168F7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36A840FC-4561-4EDF-07B0-278CEB00A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0" y="3428999"/>
            <a:ext cx="4571999" cy="3429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D18186-73FB-E713-0719-D578A0AAF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4572000" cy="3428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A6AE5E-EF52-64CE-F2FD-860BECB2A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0"/>
            <a:ext cx="4572000" cy="3428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5A5E3D-12CA-F3C6-2C92-D47E9F4DA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47173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800" b="1" dirty="0"/>
              <a:t>Advanced Analytics Dashboard (Page 2)</a:t>
            </a:r>
            <a:endParaRPr sz="3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b="1" u="sng" dirty="0"/>
              <a:t>ADVANCED VISUAL ANALYSIS:</a:t>
            </a:r>
            <a:endParaRPr lang="en-US" sz="1800" u="sng" dirty="0"/>
          </a:p>
          <a:p>
            <a:pPr marL="0" indent="0">
              <a:buNone/>
            </a:pPr>
            <a:r>
              <a:rPr lang="en-US" sz="1800" dirty="0"/>
              <a:t>• Likes, Shares, and Comments by Platform and Gender</a:t>
            </a:r>
            <a:br>
              <a:rPr lang="en-US" sz="1800" dirty="0"/>
            </a:br>
            <a:r>
              <a:rPr lang="en-US" sz="1800" dirty="0"/>
              <a:t>• Likes analysis by Region and Platform</a:t>
            </a:r>
            <a:br>
              <a:rPr lang="en-US" sz="1800" dirty="0"/>
            </a:br>
            <a:r>
              <a:rPr lang="en-US" sz="1800" dirty="0"/>
              <a:t>• Followers and Shares comparison by Platform</a:t>
            </a:r>
            <a:br>
              <a:rPr lang="en-US" sz="1800" dirty="0"/>
            </a:br>
            <a:r>
              <a:rPr lang="en-US" sz="1800" dirty="0"/>
              <a:t>• Downloads analysis by Platform and Region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u="sng" dirty="0"/>
              <a:t>FEATURES:</a:t>
            </a:r>
            <a:endParaRPr lang="en-US" sz="1800" u="sng" dirty="0"/>
          </a:p>
          <a:p>
            <a:pPr marL="0" indent="0">
              <a:buNone/>
            </a:pPr>
            <a:r>
              <a:rPr lang="en-US" sz="1800" dirty="0"/>
              <a:t>• Detailed engagement analysis</a:t>
            </a:r>
            <a:br>
              <a:rPr lang="en-US" sz="1800" dirty="0"/>
            </a:br>
            <a:r>
              <a:rPr lang="en-US" sz="1800" dirty="0"/>
              <a:t>• Platform performance comparison</a:t>
            </a:r>
            <a:br>
              <a:rPr lang="en-US" sz="1800" dirty="0"/>
            </a:br>
            <a:r>
              <a:rPr lang="en-US" sz="1800" dirty="0"/>
              <a:t>• Interactive filtering support</a:t>
            </a:r>
            <a:br>
              <a:rPr lang="en-US" sz="1800" dirty="0"/>
            </a:br>
            <a:r>
              <a:rPr lang="en-US" sz="1800" dirty="0"/>
              <a:t>• Multi-page dashboard navigation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A9B7F-AA0B-A9E9-92A1-6492370A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1816" y="274638"/>
            <a:ext cx="1014984" cy="200850"/>
          </a:xfrm>
        </p:spPr>
        <p:txBody>
          <a:bodyPr>
            <a:normAutofit fontScale="90000"/>
          </a:bodyPr>
          <a:lstStyle/>
          <a:p>
            <a:endParaRPr lang="en-IN" sz="800" dirty="0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66BE7E0B-1C51-308C-9C50-F32342233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502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5434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9D67-CC96-ECBE-DD95-046786DA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Page 2 – Interactive Filters and Slicers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C99F5-DC51-D329-D477-8E293CED8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1800" b="1" u="sng" dirty="0"/>
              <a:t>SLICERS: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Platform filter</a:t>
            </a:r>
            <a:br>
              <a:rPr lang="en-IN" sz="1800" dirty="0"/>
            </a:br>
            <a:r>
              <a:rPr lang="en-IN" sz="1800" dirty="0"/>
              <a:t>• Region filter</a:t>
            </a:r>
            <a:br>
              <a:rPr lang="en-IN" sz="1800" dirty="0"/>
            </a:br>
            <a:r>
              <a:rPr lang="en-IN" sz="1800" dirty="0"/>
              <a:t>• Gender filter</a:t>
            </a:r>
            <a:br>
              <a:rPr lang="en-IN" sz="1800" dirty="0"/>
            </a:br>
            <a:r>
              <a:rPr lang="en-IN" sz="1800" dirty="0"/>
              <a:t>• Additional engagement-based filtering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u="sng" dirty="0"/>
              <a:t>FUNCTIONALITY: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Filters Page 2 visualizations dynamically</a:t>
            </a:r>
            <a:br>
              <a:rPr lang="en-IN" sz="1800" dirty="0"/>
            </a:br>
            <a:r>
              <a:rPr lang="en-IN" sz="1800" dirty="0"/>
              <a:t>• Enables detailed engagement analysis</a:t>
            </a:r>
            <a:br>
              <a:rPr lang="en-IN" sz="1800" dirty="0"/>
            </a:br>
            <a:r>
              <a:rPr lang="en-IN" sz="1800" dirty="0"/>
              <a:t>• Supports platform-specific insights</a:t>
            </a:r>
            <a:br>
              <a:rPr lang="en-IN" sz="1800" dirty="0"/>
            </a:br>
            <a:r>
              <a:rPr lang="en-IN" sz="1800" dirty="0"/>
              <a:t>• Improves user interaction and flexibility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u="sng" dirty="0"/>
              <a:t>IMPLEMENTATION: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Created using Power BI slicers</a:t>
            </a:r>
            <a:br>
              <a:rPr lang="en-IN" sz="1800" dirty="0"/>
            </a:br>
            <a:r>
              <a:rPr lang="en-IN" sz="1800" dirty="0"/>
              <a:t>• Integrated with visual interactions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2760946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FF0DA-467C-D625-270C-EF223FB16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936" y="211346"/>
            <a:ext cx="1234440" cy="63292"/>
          </a:xfrm>
        </p:spPr>
        <p:txBody>
          <a:bodyPr>
            <a:normAutofit fontScale="90000"/>
          </a:bodyPr>
          <a:lstStyle/>
          <a:p>
            <a:endParaRPr lang="en-IN" sz="800" dirty="0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D148AC1A-6D3B-67D2-9A12-2D89ADCD8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179576"/>
            <a:ext cx="9144000" cy="4864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B6BA9-1957-078B-9206-EC89BFB7A7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09"/>
          <a:stretch>
            <a:fillRect/>
          </a:stretch>
        </p:blipFill>
        <p:spPr>
          <a:xfrm>
            <a:off x="3871348" y="11214"/>
            <a:ext cx="1368706" cy="105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15854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A8AFB-DE0B-A9FE-031D-910ECBFFD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Navigation and Hover Feature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C581F-7E79-0A02-9557-385CA2F0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u="sng" dirty="0"/>
              <a:t>NAVIGATION IMPLEMENTATION:</a:t>
            </a:r>
            <a:endParaRPr lang="en-US" sz="1800" u="sng" dirty="0"/>
          </a:p>
          <a:p>
            <a:pPr marL="0" indent="0">
              <a:buNone/>
            </a:pPr>
            <a:r>
              <a:rPr lang="en-US" sz="1800" dirty="0"/>
              <a:t>• Navigation created using Power BI buttons</a:t>
            </a:r>
            <a:br>
              <a:rPr lang="en-US" sz="1800" dirty="0"/>
            </a:br>
            <a:r>
              <a:rPr lang="en-US" sz="1800" dirty="0"/>
              <a:t>• Used for switching between dashboard pages</a:t>
            </a:r>
            <a:br>
              <a:rPr lang="en-US" sz="1800" dirty="0"/>
            </a:br>
            <a:r>
              <a:rPr lang="en-US" sz="1800" dirty="0"/>
              <a:t>• Implemented using bookmarks and page navigation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u="sng" dirty="0"/>
              <a:t>HOVER EFFECT FEATURE:</a:t>
            </a:r>
            <a:endParaRPr lang="en-US" sz="1800" u="sng" dirty="0"/>
          </a:p>
          <a:p>
            <a:pPr marL="0" indent="0">
              <a:buNone/>
            </a:pPr>
            <a:r>
              <a:rPr lang="en-US" sz="1800" dirty="0"/>
              <a:t>• Button appearance changes on mouse hover</a:t>
            </a:r>
            <a:br>
              <a:rPr lang="en-US" sz="1800" dirty="0"/>
            </a:br>
            <a:r>
              <a:rPr lang="en-US" sz="1800" dirty="0"/>
              <a:t>• Provides visual feedback to the user</a:t>
            </a:r>
            <a:br>
              <a:rPr lang="en-US" sz="1800" dirty="0"/>
            </a:br>
            <a:r>
              <a:rPr lang="en-US" sz="1800" dirty="0"/>
              <a:t>• Improves dashboard interactivity</a:t>
            </a:r>
            <a:br>
              <a:rPr lang="en-US" sz="1800" dirty="0"/>
            </a:br>
            <a:r>
              <a:rPr lang="en-US" sz="1800" dirty="0"/>
              <a:t>• Enhances user experience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6504069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6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76DD-6463-46FD-54CD-5987EFEF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3464" y="82614"/>
            <a:ext cx="704088" cy="1143000"/>
          </a:xfrm>
        </p:spPr>
        <p:txBody>
          <a:bodyPr>
            <a:normAutofit/>
          </a:bodyPr>
          <a:lstStyle/>
          <a:p>
            <a:endParaRPr lang="en-IN" sz="800" dirty="0"/>
          </a:p>
        </p:txBody>
      </p:sp>
      <p:pic>
        <p:nvPicPr>
          <p:cNvPr id="35" name="Content Placeholder 34">
            <a:extLst>
              <a:ext uri="{FF2B5EF4-FFF2-40B4-BE49-F238E27FC236}">
                <a16:creationId xmlns:a16="http://schemas.microsoft.com/office/drawing/2014/main" id="{83808EB5-D30E-3206-EAFB-47483E47D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460" y="104152"/>
            <a:ext cx="1524213" cy="120984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8EF56B8-1DC4-DCE2-8449-2CB86E4DC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91" y="122776"/>
            <a:ext cx="1514686" cy="120984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A0D9A51-8B2B-906A-3B01-DFD1E705E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1554" y="1497592"/>
            <a:ext cx="1762371" cy="120031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C5CADD5-E7DA-91FB-8E52-35E67C108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47" y="1497592"/>
            <a:ext cx="1381318" cy="120984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673CD3A-A8B9-EB24-2E23-1F0ED06694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9212" y="0"/>
            <a:ext cx="632788" cy="67636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E196CD0-E333-4C34-BC50-3FBB0D40040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994" t="2458" b="-2458"/>
          <a:stretch>
            <a:fillRect/>
          </a:stretch>
        </p:blipFill>
        <p:spPr>
          <a:xfrm>
            <a:off x="3921762" y="806908"/>
            <a:ext cx="667687" cy="67636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07604E-68E7-CC0C-8DA8-37EDA030F9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7549" y="29427"/>
            <a:ext cx="2054141" cy="270743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D6B4A15-5EBC-A04E-186B-D2FB5BFC07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3782" y="0"/>
            <a:ext cx="2170218" cy="270743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2A9CB28-F402-3BE1-0D4B-08C6B6C07B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2261" y="2900049"/>
            <a:ext cx="2170218" cy="283348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A744089-A23F-EDF6-E8FF-1E147BB502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6272" y="4078995"/>
            <a:ext cx="1782554" cy="268200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FB1B663-6163-A461-6372-B0A7363EB9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7183" y="4074656"/>
            <a:ext cx="1664095" cy="267919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742B63F-68D1-B26F-B134-30636E30DB8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59831" y="4081810"/>
            <a:ext cx="1762371" cy="267919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A24080D-E2C7-9BDA-B049-1EEF5BF0534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41017" y="2828449"/>
            <a:ext cx="2757877" cy="111537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2A2E8C5-F2C1-4B81-8144-C90C8AD8F22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7183" y="2862882"/>
            <a:ext cx="2449496" cy="10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0511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F8D58-C123-75F3-E89E-7937C457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BACAB-13C9-470C-8271-E919DC4D3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1800" b="1" u="sng" dirty="0"/>
              <a:t>PROJECT SUMMARY: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Developed Social Media Analytics Dashboard using Microsoft Power BI</a:t>
            </a:r>
            <a:br>
              <a:rPr lang="en-IN" sz="1800" dirty="0"/>
            </a:br>
            <a:r>
              <a:rPr lang="en-IN" sz="1800" dirty="0"/>
              <a:t>• Visualized downloads, followers, likes, shares, and comments</a:t>
            </a:r>
            <a:br>
              <a:rPr lang="en-IN" sz="1800" dirty="0"/>
            </a:br>
            <a:r>
              <a:rPr lang="en-IN" sz="1800" dirty="0"/>
              <a:t>• Compared performance across multiple social media platforms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u="sng" dirty="0"/>
              <a:t>KEY FEATURES IMPLEMENTED: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Interactive filters and slicer panels</a:t>
            </a:r>
            <a:br>
              <a:rPr lang="en-IN" sz="1800" dirty="0"/>
            </a:br>
            <a:r>
              <a:rPr lang="en-IN" sz="1800" dirty="0"/>
              <a:t>• SUM and AVG toggle using bookmarks</a:t>
            </a:r>
            <a:br>
              <a:rPr lang="en-IN" sz="1800" dirty="0"/>
            </a:br>
            <a:r>
              <a:rPr lang="en-IN" sz="1800" dirty="0"/>
              <a:t>• Dynamic platform icon and web navigation</a:t>
            </a:r>
            <a:br>
              <a:rPr lang="en-IN" sz="1800" dirty="0"/>
            </a:br>
            <a:r>
              <a:rPr lang="en-IN" sz="1800" dirty="0"/>
              <a:t>• Multi-page dashboard with advanced analysis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u="sng" dirty="0"/>
              <a:t>OUTCOME:</a:t>
            </a:r>
            <a:endParaRPr lang="en-IN" sz="1800" u="sng" dirty="0"/>
          </a:p>
          <a:p>
            <a:pPr marL="0" indent="0">
              <a:buNone/>
            </a:pPr>
            <a:r>
              <a:rPr lang="en-IN" sz="1800" dirty="0"/>
              <a:t>• Provides clear and interactive data visualization</a:t>
            </a:r>
            <a:br>
              <a:rPr lang="en-IN" sz="1800" dirty="0"/>
            </a:br>
            <a:r>
              <a:rPr lang="en-IN" sz="1800" dirty="0"/>
              <a:t>• Helps </a:t>
            </a:r>
            <a:r>
              <a:rPr lang="en-IN" sz="1800" dirty="0" err="1"/>
              <a:t>analyze</a:t>
            </a:r>
            <a:r>
              <a:rPr lang="en-IN" sz="1800" dirty="0"/>
              <a:t> platform performance effectively</a:t>
            </a:r>
            <a:br>
              <a:rPr lang="en-IN" sz="1800" dirty="0"/>
            </a:br>
            <a:r>
              <a:rPr lang="en-IN" sz="1800" dirty="0"/>
              <a:t>• Supports data-driven decision making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9257445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7B1A-1845-0C6B-EE38-91AA7DB3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5851525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2D45F-9529-1F1B-648B-29A6A0590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79776"/>
            <a:ext cx="9144000" cy="40782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1"/>
                </a:solidFill>
              </a:rPr>
              <a:t>THANK YOU</a:t>
            </a:r>
            <a:endParaRPr lang="en-IN" sz="4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15279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230</TotalTime>
  <Words>813</Words>
  <Application>Microsoft Office PowerPoint</Application>
  <PresentationFormat>On-screen Show (4:3)</PresentationFormat>
  <Paragraphs>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Wingdings 3</vt:lpstr>
      <vt:lpstr>Ion Boardroom</vt:lpstr>
      <vt:lpstr>SOCIAL MEDIA ANALYTICS DASHBOARD</vt:lpstr>
      <vt:lpstr>Objectives</vt:lpstr>
      <vt:lpstr>Tools and Technologies Used</vt:lpstr>
      <vt:lpstr>DATA SETS</vt:lpstr>
      <vt:lpstr>Dataset Overview</vt:lpstr>
      <vt:lpstr>Dashboard Overview – Total Performance </vt:lpstr>
      <vt:lpstr>PowerPoint Presentation</vt:lpstr>
      <vt:lpstr>SUM and AVG Toggle Feature</vt:lpstr>
      <vt:lpstr>PowerPoint Presentation</vt:lpstr>
      <vt:lpstr>PowerPoint Presentation</vt:lpstr>
      <vt:lpstr>Interactive Filters and Slicer Panel</vt:lpstr>
      <vt:lpstr>PowerPoint Presentation</vt:lpstr>
      <vt:lpstr>Dynamic Icon and Navigation Feature</vt:lpstr>
      <vt:lpstr>PowerPoint Presentation</vt:lpstr>
      <vt:lpstr>Advanced Analytics Dashboard (Page 2)</vt:lpstr>
      <vt:lpstr>PowerPoint Presentation</vt:lpstr>
      <vt:lpstr>Page 2 – Interactive Filters and Slicers</vt:lpstr>
      <vt:lpstr>PowerPoint Presentation</vt:lpstr>
      <vt:lpstr> Navigation and Hover Feature</vt:lpstr>
      <vt:lpstr>PowerPoint Presentation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kabilan</cp:lastModifiedBy>
  <cp:revision>4</cp:revision>
  <dcterms:created xsi:type="dcterms:W3CDTF">2013-01-27T09:14:16Z</dcterms:created>
  <dcterms:modified xsi:type="dcterms:W3CDTF">2026-02-15T19:52:52Z</dcterms:modified>
  <cp:category/>
</cp:coreProperties>
</file>